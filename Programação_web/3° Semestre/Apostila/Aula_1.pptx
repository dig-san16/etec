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58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11/02/2025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.gov.br/en/web/dou/-/lei-n-15.100-de-13-de-janeiro-de-2025-60677293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ppmaster.io/pt/blog/a-melhor-estrutura-javascript-para-usar-em-2022-um-guia-complet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master.io/pt/blog/habilidades-para-aprender-a-ser-desenvolvedor-backend" TargetMode="External"/><Relationship Id="rId2" Type="http://schemas.openxmlformats.org/officeDocument/2006/relationships/hyperlink" Target="https://appmaster.io/pt/blog/equipa-de-desenvolvimento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smtClean="0"/>
              <a:t>Prof. Ederson Luiz Silva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7496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Lei nº 15.100/2025</a:t>
            </a:r>
            <a:endParaRPr lang="pt-BR" dirty="0"/>
          </a:p>
          <a:p>
            <a:r>
              <a:rPr lang="pt-BR" dirty="0"/>
              <a:t>Uso dos celulares na escola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125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Aplicações </a:t>
            </a:r>
            <a:r>
              <a:rPr lang="pt-BR" i="1" dirty="0"/>
              <a:t>Web </a:t>
            </a:r>
            <a:r>
              <a:rPr lang="pt-BR" dirty="0"/>
              <a:t>de página única (SPA</a:t>
            </a:r>
            <a:r>
              <a:rPr lang="pt-BR" dirty="0" smtClean="0"/>
              <a:t>).</a:t>
            </a:r>
          </a:p>
          <a:p>
            <a:pPr marL="0" indent="0">
              <a:buNone/>
            </a:pPr>
            <a:r>
              <a:rPr lang="pt-BR" dirty="0"/>
              <a:t>Nos últimos anos, as aplicações de página única têm merecido enorme atenção devido a um maior envolvimento dos utilizadores e a experiências únicas. A Google utiliza uma </a:t>
            </a:r>
            <a:r>
              <a:rPr lang="pt-BR" dirty="0" err="1"/>
              <a:t>arquitectura</a:t>
            </a:r>
            <a:r>
              <a:rPr lang="pt-BR" dirty="0"/>
              <a:t> de aplicação de página única no Gmail e Google </a:t>
            </a:r>
            <a:r>
              <a:rPr lang="pt-BR" dirty="0" err="1"/>
              <a:t>Maps</a:t>
            </a:r>
            <a:r>
              <a:rPr lang="pt-BR" dirty="0"/>
              <a:t> para uma melhor experiência do utilizador. Alguns outros exemplos de aplicações de página única são </a:t>
            </a:r>
            <a:r>
              <a:rPr lang="pt-BR" dirty="0" err="1"/>
              <a:t>Twitter</a:t>
            </a:r>
            <a:r>
              <a:rPr lang="pt-BR" dirty="0"/>
              <a:t>, </a:t>
            </a:r>
            <a:r>
              <a:rPr lang="pt-BR" dirty="0" err="1"/>
              <a:t>Facebook</a:t>
            </a:r>
            <a:r>
              <a:rPr lang="pt-BR" dirty="0"/>
              <a:t>, e GitHub. O bom das aplicações de uma só página é que requerem menos recursos para o servidor web.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5094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Antes da penetração das aplicações de página única, uma aplicação tradicional de várias páginas era popular, onde um navegador da web seguia a </a:t>
            </a:r>
            <a:r>
              <a:rPr lang="pt-BR" dirty="0" smtClean="0"/>
              <a:t>arquitetura </a:t>
            </a:r>
            <a:r>
              <a:rPr lang="pt-BR" dirty="0"/>
              <a:t>tradicional cliente-servidor. Neste modelo, um cliente envia um pedido ao servidor para aceder a uma determinada página web, e o servidor responde aos dados em formato HTML do cliente. </a:t>
            </a:r>
          </a:p>
        </p:txBody>
      </p:sp>
    </p:spTree>
    <p:extLst>
      <p:ext uri="{BB962C8B-B14F-4D97-AF65-F5344CB8AC3E}">
        <p14:creationId xmlns:p14="http://schemas.microsoft.com/office/powerpoint/2010/main" val="306743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</a:t>
            </a:r>
            <a:r>
              <a:rPr lang="pt-BR" dirty="0"/>
              <a:t>ficheiro HTML inclui os links para imagens, CSS, </a:t>
            </a:r>
            <a:r>
              <a:rPr lang="pt-BR" dirty="0" err="1"/>
              <a:t>JavaScript</a:t>
            </a:r>
            <a:r>
              <a:rPr lang="pt-BR" dirty="0"/>
              <a:t>, e estes ficheiros ajudam na </a:t>
            </a:r>
            <a:r>
              <a:rPr lang="pt-BR" dirty="0" err="1"/>
              <a:t>renderização</a:t>
            </a:r>
            <a:r>
              <a:rPr lang="pt-BR" dirty="0"/>
              <a:t> do lado do servidor para uma determinada carga de página. No mundo digital em rápido crescimento onde os utilizadores querem </a:t>
            </a:r>
            <a:r>
              <a:rPr lang="pt-BR" dirty="0" err="1"/>
              <a:t>optimizar</a:t>
            </a:r>
            <a:r>
              <a:rPr lang="pt-BR" dirty="0"/>
              <a:t> a velocidade, a </a:t>
            </a:r>
            <a:r>
              <a:rPr lang="pt-BR" dirty="0" err="1"/>
              <a:t>arquitectura</a:t>
            </a:r>
            <a:r>
              <a:rPr lang="pt-BR" dirty="0"/>
              <a:t> tradicional de carregamento de páginas de aplicações web é lenta. Hoje em dia, as aplicações de página única estão em alta para a optimização da velocidade e para proporcionar uma melhor experiência ao utilizador.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34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 que é uma aplicação de página única</a:t>
            </a:r>
            <a:r>
              <a:rPr lang="pt-BR" b="1" dirty="0" smtClean="0"/>
              <a:t>?</a:t>
            </a:r>
          </a:p>
          <a:p>
            <a:r>
              <a:rPr lang="pt-BR" dirty="0"/>
              <a:t>Como o nome sugere, uma aplicação de página única é uma página web única que carrega num navegador web. Cada vez que um utilizador carrega a página, o seu conteúdo permanece o mesmo com pouca </a:t>
            </a:r>
            <a:r>
              <a:rPr lang="pt-BR" dirty="0" err="1"/>
              <a:t>actualização</a:t>
            </a:r>
            <a:r>
              <a:rPr lang="pt-BR" dirty="0"/>
              <a:t>. Para a </a:t>
            </a:r>
            <a:r>
              <a:rPr lang="pt-BR" dirty="0" err="1"/>
              <a:t>actualização</a:t>
            </a:r>
            <a:r>
              <a:rPr lang="pt-BR" dirty="0"/>
              <a:t> de conteúdo, uma aplicação de página única utiliza uma </a:t>
            </a:r>
            <a:r>
              <a:rPr lang="pt-BR" dirty="0">
                <a:hlinkClick r:id="rId2"/>
              </a:rPr>
              <a:t>estrutura </a:t>
            </a:r>
            <a:r>
              <a:rPr lang="pt-BR" dirty="0" err="1">
                <a:hlinkClick r:id="rId2"/>
              </a:rPr>
              <a:t>JavaScript</a:t>
            </a:r>
            <a:r>
              <a:rPr lang="pt-BR" dirty="0"/>
              <a:t>. Com a ajuda de uma aplicação de página única, os utilizadores podem aceder a uma única página sem carregar o sítio web inteiro a partir do servidor. Estas aplicações de uma só página funcionam com </a:t>
            </a:r>
            <a:r>
              <a:rPr lang="pt-BR" dirty="0" err="1"/>
              <a:t>JavaScript</a:t>
            </a:r>
            <a:r>
              <a:rPr lang="pt-BR" dirty="0"/>
              <a:t> e outras linguagens de programação.</a:t>
            </a: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68831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resultado, ajuda na Optimização de Motores de Pesquisa (SEO) e proporciona a experiência de utilização de uma aplicação nativa. Desenvolver uma aplicação de página única é a melhor ideia para envolver os utilizadores e levá-los a um único espaço web através de uma </a:t>
            </a:r>
            <a:r>
              <a:rPr lang="pt-BR" dirty="0" err="1"/>
              <a:t>arquitectura</a:t>
            </a:r>
            <a:r>
              <a:rPr lang="pt-BR" dirty="0"/>
              <a:t> simples. Por exemplo, o conteúdo do Gmail e do Google </a:t>
            </a:r>
            <a:r>
              <a:rPr lang="pt-BR" dirty="0" err="1"/>
              <a:t>Maps</a:t>
            </a:r>
            <a:r>
              <a:rPr lang="pt-BR" dirty="0"/>
              <a:t> permanece o mesmo sempre que se acede à aplicação com poucas </a:t>
            </a:r>
            <a:r>
              <a:rPr lang="pt-BR" dirty="0" err="1"/>
              <a:t>actualizações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271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pretende desenvolver uma aplicação para o seu negócio, recomendamos que construa uma aplicação de uma única página para ganhar mais visitantes. Poderá estar a questionar-se sobre a diferença entre aplicações tradicionais e de página única. Se sim, não procure mais. Este artigo revelará a </a:t>
            </a:r>
            <a:r>
              <a:rPr lang="pt-BR" dirty="0" err="1"/>
              <a:t>arquitectura</a:t>
            </a:r>
            <a:r>
              <a:rPr lang="pt-BR" dirty="0"/>
              <a:t> das aplicações de página única, as vantagens de uma aplicação de página única, o melhor enquadramento para uma aplicação de página única, e como criar </a:t>
            </a:r>
            <a:r>
              <a:rPr lang="pt-BR" dirty="0" err="1"/>
              <a:t>SPAs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2803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 que é a </a:t>
            </a:r>
            <a:r>
              <a:rPr lang="pt-BR" b="1" u="sng" dirty="0" smtClean="0"/>
              <a:t>arquitetura</a:t>
            </a:r>
            <a:r>
              <a:rPr lang="pt-BR" b="1" dirty="0" smtClean="0"/>
              <a:t> </a:t>
            </a:r>
            <a:r>
              <a:rPr lang="pt-BR" b="1" dirty="0"/>
              <a:t>de uma aplicação de página única? Como é que funciona</a:t>
            </a:r>
            <a:r>
              <a:rPr lang="pt-BR" b="1" dirty="0" smtClean="0"/>
              <a:t>?</a:t>
            </a:r>
          </a:p>
          <a:p>
            <a:r>
              <a:rPr lang="pt-BR" dirty="0"/>
              <a:t>Antes de iniciar o processo de desenvolvimento, poderá estar preocupado com a </a:t>
            </a:r>
            <a:r>
              <a:rPr lang="pt-BR" dirty="0" smtClean="0"/>
              <a:t>arquitetura </a:t>
            </a:r>
            <a:r>
              <a:rPr lang="pt-BR" dirty="0"/>
              <a:t>de uma aplicação de página única e com o seu funcionamento. A </a:t>
            </a:r>
            <a:r>
              <a:rPr lang="pt-BR" dirty="0" smtClean="0"/>
              <a:t>arquitetura </a:t>
            </a:r>
            <a:r>
              <a:rPr lang="pt-BR" dirty="0"/>
              <a:t>de aplicação de uma aplicação de página única é bastante simples e inclui tecnologias do lado do cliente e do lado do servidor. Três opções estão envolvidas </a:t>
            </a:r>
            <a:r>
              <a:rPr lang="pt-BR"/>
              <a:t>na </a:t>
            </a:r>
            <a:r>
              <a:rPr lang="pt-BR" u="sng" smtClean="0"/>
              <a:t>arquitetura</a:t>
            </a:r>
            <a:r>
              <a:rPr lang="pt-BR" smtClean="0"/>
              <a:t> </a:t>
            </a:r>
            <a:r>
              <a:rPr lang="pt-BR" dirty="0"/>
              <a:t>da aplicação, e é necessário escolher uma.</a:t>
            </a: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42663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Fonte da imagem: medium.com/</a:t>
            </a:r>
            <a:r>
              <a:rPr lang="pt-BR" dirty="0" err="1"/>
              <a:t>Author</a:t>
            </a:r>
            <a:r>
              <a:rPr lang="pt-BR" dirty="0"/>
              <a:t>: </a:t>
            </a:r>
            <a:r>
              <a:rPr lang="pt-BR" dirty="0" err="1"/>
              <a:t>Deepak</a:t>
            </a:r>
            <a:r>
              <a:rPr lang="pt-BR" dirty="0"/>
              <a:t> </a:t>
            </a:r>
            <a:r>
              <a:rPr lang="pt-BR" dirty="0" err="1"/>
              <a:t>Maheshwari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363" y="2533525"/>
            <a:ext cx="697327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5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Renderização</a:t>
            </a:r>
            <a:r>
              <a:rPr lang="pt-BR" dirty="0"/>
              <a:t> do lado do cliente</a:t>
            </a:r>
          </a:p>
          <a:p>
            <a:r>
              <a:rPr lang="pt-BR" dirty="0" err="1"/>
              <a:t>Renderização</a:t>
            </a:r>
            <a:r>
              <a:rPr lang="pt-BR" dirty="0"/>
              <a:t> do lado do servidor</a:t>
            </a:r>
          </a:p>
          <a:p>
            <a:r>
              <a:rPr lang="pt-BR" dirty="0"/>
              <a:t>Geradores de sítios estáticos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282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Opção 1: </a:t>
            </a:r>
            <a:r>
              <a:rPr lang="pt-BR" b="1" dirty="0" err="1"/>
              <a:t>Renderização</a:t>
            </a:r>
            <a:r>
              <a:rPr lang="pt-BR" b="1" dirty="0"/>
              <a:t> do lado do cliente</a:t>
            </a:r>
          </a:p>
          <a:p>
            <a:r>
              <a:rPr lang="pt-BR" dirty="0"/>
              <a:t>O fluxo de trabalho de </a:t>
            </a:r>
            <a:r>
              <a:rPr lang="pt-BR" dirty="0" err="1"/>
              <a:t>renderização</a:t>
            </a:r>
            <a:r>
              <a:rPr lang="pt-BR" dirty="0"/>
              <a:t> do lado do cliente é o seguinte:</a:t>
            </a:r>
          </a:p>
          <a:p>
            <a:r>
              <a:rPr lang="pt-BR" dirty="0"/>
              <a:t>O web browser recebe um pedido do cliente e envia-o para o servidor em formato HTML.</a:t>
            </a:r>
          </a:p>
          <a:p>
            <a:r>
              <a:rPr lang="pt-BR" dirty="0"/>
              <a:t>O servidor recebe o pedido do cliente e responde com um ficheiro HTML que inclui texto, links para imagens, CSS, e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r>
              <a:rPr lang="pt-BR" dirty="0"/>
              <a:t>Quando o servidor solicita um ficheiro HTML, o utilizador vê o carregamento de imagens ou uma página em branco ao executar o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r>
              <a:rPr lang="pt-BR" dirty="0"/>
              <a:t>Entretanto, uma aplicação de página única recupera dados, cria vistas, e coloca-os em Data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Model</a:t>
            </a:r>
            <a:r>
              <a:rPr lang="pt-BR" dirty="0"/>
              <a:t>(DOM).</a:t>
            </a:r>
          </a:p>
          <a:p>
            <a:r>
              <a:rPr lang="pt-BR" dirty="0"/>
              <a:t>Finalmente, a aplicação web está pronta a ser utilizada.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1598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Antes de considerar esta opção para a sua aplicação web, é necessário compreender que a </a:t>
            </a:r>
            <a:r>
              <a:rPr lang="pt-BR" dirty="0" err="1"/>
              <a:t>renderização</a:t>
            </a:r>
            <a:r>
              <a:rPr lang="pt-BR" dirty="0"/>
              <a:t> de dados do lado do cliente pode causar uma sobrecarga no navegador web, uma vez que este utiliza mais recursos de dispositivos móveis. Portanto, esta opção é a mais lenta entre todas as outras. Do mesmo modo, recomendamos que utilize </a:t>
            </a:r>
            <a:r>
              <a:rPr lang="pt-BR" dirty="0" err="1"/>
              <a:t>Certificate</a:t>
            </a:r>
            <a:r>
              <a:rPr lang="pt-BR" dirty="0"/>
              <a:t> </a:t>
            </a:r>
            <a:r>
              <a:rPr lang="pt-BR" dirty="0" err="1"/>
              <a:t>Signing</a:t>
            </a:r>
            <a:r>
              <a:rPr lang="pt-BR" dirty="0"/>
              <a:t> </a:t>
            </a:r>
            <a:r>
              <a:rPr lang="pt-BR" dirty="0" err="1"/>
              <a:t>Request</a:t>
            </a:r>
            <a:r>
              <a:rPr lang="pt-BR" dirty="0"/>
              <a:t> (CSR) para diminuir o envolvimento do servidor na comunicação de dados.</a:t>
            </a:r>
          </a:p>
        </p:txBody>
      </p:sp>
    </p:spTree>
    <p:extLst>
      <p:ext uri="{BB962C8B-B14F-4D97-AF65-F5344CB8AC3E}">
        <p14:creationId xmlns:p14="http://schemas.microsoft.com/office/powerpoint/2010/main" val="3739168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Opção 2: </a:t>
            </a:r>
            <a:r>
              <a:rPr lang="pt-BR" b="1" dirty="0" err="1"/>
              <a:t>Renderização</a:t>
            </a:r>
            <a:r>
              <a:rPr lang="pt-BR" b="1" dirty="0"/>
              <a:t> do lado do servidor</a:t>
            </a:r>
          </a:p>
          <a:p>
            <a:r>
              <a:rPr lang="pt-BR" dirty="0"/>
              <a:t>A </a:t>
            </a:r>
            <a:r>
              <a:rPr lang="pt-BR" dirty="0" err="1"/>
              <a:t>arquitectura</a:t>
            </a:r>
            <a:r>
              <a:rPr lang="pt-BR" dirty="0"/>
              <a:t> da aplicação de </a:t>
            </a:r>
            <a:r>
              <a:rPr lang="pt-BR" dirty="0" err="1"/>
              <a:t>renderização</a:t>
            </a:r>
            <a:r>
              <a:rPr lang="pt-BR" dirty="0"/>
              <a:t> do lado do servidor numa aplicação de página única é a seguinte:</a:t>
            </a:r>
          </a:p>
          <a:p>
            <a:r>
              <a:rPr lang="pt-BR" dirty="0"/>
              <a:t>Um motor de busca ou navegador web pede ao servidor para solicitar um ficheiro HTLM.</a:t>
            </a:r>
          </a:p>
          <a:p>
            <a:r>
              <a:rPr lang="pt-BR" dirty="0"/>
              <a:t>O servidor recupera a informação necessária, </a:t>
            </a:r>
            <a:r>
              <a:rPr lang="pt-BR" dirty="0" err="1"/>
              <a:t>renderiza</a:t>
            </a:r>
            <a:r>
              <a:rPr lang="pt-BR" dirty="0"/>
              <a:t> a aplicação web, e cria rapidamente um ficheiro HTML.</a:t>
            </a:r>
          </a:p>
          <a:p>
            <a:r>
              <a:rPr lang="pt-BR" dirty="0"/>
              <a:t>Nesta fase, o utilizador pode ver a informação solicitada.</a:t>
            </a:r>
          </a:p>
          <a:p>
            <a:r>
              <a:rPr lang="pt-BR" dirty="0"/>
              <a:t>Na </a:t>
            </a:r>
            <a:r>
              <a:rPr lang="pt-BR" dirty="0" err="1"/>
              <a:t>renderização</a:t>
            </a:r>
            <a:r>
              <a:rPr lang="pt-BR" dirty="0"/>
              <a:t> do lado do servidor, as aplicações de página única interligam os eventos e criam um Data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Model</a:t>
            </a:r>
            <a:r>
              <a:rPr lang="pt-BR" dirty="0"/>
              <a:t> virtual (DOM) para o conteúdo solicitado.</a:t>
            </a:r>
          </a:p>
          <a:p>
            <a:r>
              <a:rPr lang="pt-BR" dirty="0"/>
              <a:t>Finalmente, a sua aplicação única está pronta a ser utilizada.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3717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 err="1"/>
              <a:t>renderização</a:t>
            </a:r>
            <a:r>
              <a:rPr lang="pt-BR" dirty="0"/>
              <a:t> do lado do servidor é a melhor opção para </a:t>
            </a:r>
            <a:r>
              <a:rPr lang="pt-BR" dirty="0" err="1"/>
              <a:t>optimizar</a:t>
            </a:r>
            <a:r>
              <a:rPr lang="pt-BR" dirty="0"/>
              <a:t> a velocidade das aplicações web e reduzir a carga de um navegador web.</a:t>
            </a:r>
          </a:p>
        </p:txBody>
      </p:sp>
    </p:spTree>
    <p:extLst>
      <p:ext uri="{BB962C8B-B14F-4D97-AF65-F5344CB8AC3E}">
        <p14:creationId xmlns:p14="http://schemas.microsoft.com/office/powerpoint/2010/main" val="326922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Opção 3: Gerador de Site Estático</a:t>
            </a:r>
          </a:p>
          <a:p>
            <a:r>
              <a:rPr lang="pt-BR" dirty="0"/>
              <a:t>O fluxo de trabalho do gerador do sítio estático é o seguinte:</a:t>
            </a:r>
          </a:p>
          <a:p>
            <a:r>
              <a:rPr lang="pt-BR" dirty="0"/>
              <a:t>O cliente faz um pedido ao servidor para um ficheiro HTML.</a:t>
            </a:r>
          </a:p>
          <a:p>
            <a:r>
              <a:rPr lang="pt-BR" dirty="0"/>
              <a:t>O servidor envia rapidamente um ficheiro HTML pré-fabricado ao cliente.</a:t>
            </a:r>
          </a:p>
          <a:p>
            <a:r>
              <a:rPr lang="pt-BR" dirty="0"/>
              <a:t>Os utilizadores podem ver a página.</a:t>
            </a:r>
          </a:p>
          <a:p>
            <a:r>
              <a:rPr lang="pt-BR" dirty="0"/>
              <a:t>A sua aplicação web recupera dados, cria uma visualização de dados, e coloca-os no Data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Model</a:t>
            </a:r>
            <a:r>
              <a:rPr lang="pt-BR" dirty="0"/>
              <a:t> (DOM). Finalmente, a sua aplicação de página única está pronta para os utilizadores.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3497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Esta opção é mais rápida do que as outras duas opções. Mas o que é notável é que só pode escolher esta opção para um website estático porque suporta apenas páginas web estáticas. Pode ir com qualquer outra opção para desenvolver uma aplicação web dinâmica. A partir destas três opções, pode escolher uma de acordo com os requisitos da sua aplicação de página única e carregar a página mais rapidamente para uma melhor experiência do utilizador (UX). Agora vamos revelar as vantagens das aplicações de página única antes de iniciar o processo 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4038892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Vantagens das aplicações de página única</a:t>
            </a:r>
          </a:p>
          <a:p>
            <a:r>
              <a:rPr lang="pt-BR" dirty="0"/>
              <a:t>Antes de iniciar o desenvolvimento de software, é crucial obter uma visão mais ampla dos benefícios das aplicações de página única. Vamos começar:</a:t>
            </a:r>
          </a:p>
          <a:p>
            <a:r>
              <a:rPr lang="pt-BR" b="1" dirty="0"/>
              <a:t>Proporcionar uma melhor experiência ao utilizador</a:t>
            </a:r>
          </a:p>
          <a:p>
            <a:r>
              <a:rPr lang="pt-BR" dirty="0"/>
              <a:t>Proporcionar uma melhor experiência ao utilizador é a principal vantagem de uma aplicação de uma única página que a torna popular entre os utilizadores. O sucesso das aplicações web depende de uma melhor experiência para o utilizador. Quanto mais simples for uma aplicação web, maior será o tráfego nessa aplicação. Estudos afirmam que os utilizadores permanecem nas páginas web com a facilidade de navegar no conteúdo mais rapidamente. Como resultado, as aplicações de página única percorrem um longo caminho porque não voltam a carregar o conteúdo.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7431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Optimização da velocidade</a:t>
            </a:r>
          </a:p>
          <a:p>
            <a:r>
              <a:rPr lang="pt-BR" dirty="0"/>
              <a:t>Uma aplicação web que carrega mais lentamente aumenta a taxa de ressalto e prejudica a Optimização do Motor de Busca (SEO). Os utilizadores esperam que uma página web carregue mais rapidamente e não querem perder o seu tempo neste mundo digital em rápido crescimento. Portanto, as aplicações web devem </a:t>
            </a:r>
            <a:r>
              <a:rPr lang="pt-BR" dirty="0" err="1"/>
              <a:t>optimizar</a:t>
            </a:r>
            <a:r>
              <a:rPr lang="pt-BR" dirty="0"/>
              <a:t> a velocidade de carregamento da página para um maior envolvimento dos utilizadores.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1330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Processo de desenvolvimento simples</a:t>
            </a:r>
          </a:p>
          <a:p>
            <a:r>
              <a:rPr lang="pt-BR" dirty="0"/>
              <a:t>O desenvolvimento de software de uma aplicação de página única requer menos recursos e reduz as despesas gerais das </a:t>
            </a:r>
            <a:r>
              <a:rPr lang="pt-BR" dirty="0">
                <a:hlinkClick r:id="rId2"/>
              </a:rPr>
              <a:t>equipas de desenvolvimento</a:t>
            </a:r>
            <a:r>
              <a:rPr lang="pt-BR" dirty="0"/>
              <a:t>. Assim, o processo de desenvolvimento de uma SPA é simples porque as equipas de desenvolvimento não precisam de escrever código simultaneamente e </a:t>
            </a:r>
            <a:r>
              <a:rPr lang="pt-BR" dirty="0" err="1"/>
              <a:t>renderizar</a:t>
            </a:r>
            <a:r>
              <a:rPr lang="pt-BR" dirty="0"/>
              <a:t> o servidor. Em vez disso, os programadores envolvidos no processo de desenvolvimento podem desacoplar o </a:t>
            </a:r>
            <a:r>
              <a:rPr lang="pt-BR" dirty="0" err="1"/>
              <a:t>back</a:t>
            </a:r>
            <a:r>
              <a:rPr lang="pt-BR" dirty="0"/>
              <a:t> </a:t>
            </a:r>
            <a:r>
              <a:rPr lang="pt-BR" dirty="0" err="1"/>
              <a:t>end</a:t>
            </a:r>
            <a:r>
              <a:rPr lang="pt-BR" dirty="0"/>
              <a:t> para construir um front end. Assim, os </a:t>
            </a:r>
            <a:r>
              <a:rPr lang="pt-BR" dirty="0">
                <a:hlinkClick r:id="rId3"/>
              </a:rPr>
              <a:t>programadores</a:t>
            </a:r>
            <a:r>
              <a:rPr lang="pt-BR" dirty="0"/>
              <a:t> front-</a:t>
            </a:r>
            <a:r>
              <a:rPr lang="pt-BR" dirty="0" err="1"/>
              <a:t>end</a:t>
            </a:r>
            <a:r>
              <a:rPr lang="pt-BR" dirty="0"/>
              <a:t> e </a:t>
            </a:r>
            <a:r>
              <a:rPr lang="pt-BR" dirty="0" err="1">
                <a:hlinkClick r:id="rId3"/>
              </a:rPr>
              <a:t>back-end</a:t>
            </a:r>
            <a:r>
              <a:rPr lang="pt-BR" dirty="0"/>
              <a:t> podem trabalhar de forma independente, sem se meterem em confusões.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8579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Processo de </a:t>
            </a:r>
            <a:r>
              <a:rPr lang="pt-BR" b="1" dirty="0" err="1"/>
              <a:t>caching</a:t>
            </a:r>
            <a:r>
              <a:rPr lang="pt-BR" b="1" dirty="0"/>
              <a:t> eficiente</a:t>
            </a:r>
          </a:p>
          <a:p>
            <a:r>
              <a:rPr lang="pt-BR" dirty="0"/>
              <a:t>Para além da velocidade e melhor experiência do utilizador, uma aplicação de uma página também oferece um processo de cache eficiente do que uma aplicação de várias páginas. A razão é que uma aplicação móvel de uma só página envia o pedido apenas uma vez e armazena estes dados para utilização futura. Assim, o benefício do cache eficiente é que os utilizadores podem aceder à página mesmo que tenham uma baixa largura de banda na Internet.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5802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Depuração fácil</a:t>
            </a:r>
          </a:p>
          <a:p>
            <a:r>
              <a:rPr lang="pt-BR" dirty="0"/>
              <a:t>A detecção e remoção de bugs desempenha um papel vital na utilização das características óptimas de uma aplicação. Uma vez que as aplicações de página única utilizam frameworks populares SPA tais como </a:t>
            </a:r>
            <a:r>
              <a:rPr lang="pt-BR" dirty="0" err="1"/>
              <a:t>React</a:t>
            </a:r>
            <a:r>
              <a:rPr lang="pt-BR" dirty="0"/>
              <a:t>, Angular, ou </a:t>
            </a:r>
            <a:r>
              <a:rPr lang="pt-BR" dirty="0" err="1"/>
              <a:t>JavaScript</a:t>
            </a:r>
            <a:r>
              <a:rPr lang="pt-BR" dirty="0"/>
              <a:t> frameworks, é fácil de depurar estas aplicações do que as páginas web tradicionais. Devido à utilização de frameworks populares, pode facilmente monitorizar e detectar bugs em dados e elementos de página.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892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</a:p>
          <a:p>
            <a:r>
              <a:rPr lang="pt-BR" dirty="0"/>
              <a:t>https://appmaster.io/pt/blog/o-que-sao-aplicacoes-de-pagina-unica</a:t>
            </a:r>
          </a:p>
        </p:txBody>
      </p:sp>
    </p:spTree>
    <p:extLst>
      <p:ext uri="{BB962C8B-B14F-4D97-AF65-F5344CB8AC3E}">
        <p14:creationId xmlns:p14="http://schemas.microsoft.com/office/powerpoint/2010/main" val="3487302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1610</Words>
  <Application>Microsoft Office PowerPoint</Application>
  <PresentationFormat>Widescreen</PresentationFormat>
  <Paragraphs>56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do Office</vt:lpstr>
      <vt:lpstr>Programação Web III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Tecnico</cp:lastModifiedBy>
  <cp:revision>74</cp:revision>
  <dcterms:created xsi:type="dcterms:W3CDTF">2022-02-10T02:47:22Z</dcterms:created>
  <dcterms:modified xsi:type="dcterms:W3CDTF">2025-02-11T22:49:10Z</dcterms:modified>
</cp:coreProperties>
</file>